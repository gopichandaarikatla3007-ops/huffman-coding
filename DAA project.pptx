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ileron Bold" charset="1" panose="00000800000000000000"/>
      <p:regular r:id="rId17"/>
    </p:embeddedFont>
    <p:embeddedFont>
      <p:font typeface="Aileron" charset="1" panose="00000500000000000000"/>
      <p:regular r:id="rId18"/>
    </p:embeddedFont>
    <p:embeddedFont>
      <p:font typeface="Montserrat Bold" charset="1" panose="00000800000000000000"/>
      <p:regular r:id="rId19"/>
    </p:embeddedFont>
    <p:embeddedFont>
      <p:font typeface="Montserrat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9144000" y="1355173"/>
            <a:ext cx="10042068" cy="6664282"/>
          </a:xfrm>
          <a:custGeom>
            <a:avLst/>
            <a:gdLst/>
            <a:ahLst/>
            <a:cxnLst/>
            <a:rect r="r" b="b" t="t" l="l"/>
            <a:pathLst>
              <a:path h="6664282" w="10042068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4145" y="0"/>
            <a:ext cx="20409103" cy="1443068"/>
          </a:xfrm>
          <a:custGeom>
            <a:avLst/>
            <a:gdLst/>
            <a:ahLst/>
            <a:cxnLst/>
            <a:rect r="r" b="b" t="t" l="l"/>
            <a:pathLst>
              <a:path h="1443068" w="20409103">
                <a:moveTo>
                  <a:pt x="0" y="0"/>
                </a:moveTo>
                <a:lnTo>
                  <a:pt x="20409103" y="0"/>
                </a:lnTo>
                <a:lnTo>
                  <a:pt x="20409103" y="1443068"/>
                </a:lnTo>
                <a:lnTo>
                  <a:pt x="0" y="1443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898068" y="2179650"/>
            <a:ext cx="10042068" cy="6664282"/>
          </a:xfrm>
          <a:custGeom>
            <a:avLst/>
            <a:gdLst/>
            <a:ahLst/>
            <a:cxnLst/>
            <a:rect r="r" b="b" t="t" l="l"/>
            <a:pathLst>
              <a:path h="6664282" w="10042068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1748364" y="8843932"/>
            <a:ext cx="20409103" cy="1443068"/>
          </a:xfrm>
          <a:custGeom>
            <a:avLst/>
            <a:gdLst/>
            <a:ahLst/>
            <a:cxnLst/>
            <a:rect r="r" b="b" t="t" l="l"/>
            <a:pathLst>
              <a:path h="1443068" w="20409103">
                <a:moveTo>
                  <a:pt x="20409103" y="1443068"/>
                </a:moveTo>
                <a:lnTo>
                  <a:pt x="0" y="1443068"/>
                </a:lnTo>
                <a:lnTo>
                  <a:pt x="0" y="0"/>
                </a:lnTo>
                <a:lnTo>
                  <a:pt x="20409103" y="0"/>
                </a:lnTo>
                <a:lnTo>
                  <a:pt x="20409103" y="14430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067927" y="5511791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15627" y="1528793"/>
            <a:ext cx="12163857" cy="214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06"/>
              </a:lnSpc>
            </a:pPr>
            <a:r>
              <a:rPr lang="en-US" sz="7762" b="true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Huffman Coding</a:t>
            </a:r>
          </a:p>
          <a:p>
            <a:pPr algn="ctr">
              <a:lnSpc>
                <a:spcPts val="8306"/>
              </a:lnSpc>
            </a:pPr>
            <a:r>
              <a:rPr lang="en-US" b="true" sz="7762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 For Data Compression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49122" y="3701256"/>
            <a:ext cx="6313013" cy="774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8"/>
              </a:lnSpc>
            </a:pPr>
            <a:r>
              <a:rPr lang="en-US" b="true" sz="2811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Implementation, Analysis, and Real-Time Applications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-1050468" y="1355173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5118141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1" y="3396585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254553" y="5549891"/>
            <a:ext cx="3778895" cy="613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0"/>
              </a:lnSpc>
            </a:pPr>
            <a:r>
              <a:rPr lang="en-US" sz="4299">
                <a:solidFill>
                  <a:srgbClr val="576179"/>
                </a:solidFill>
                <a:latin typeface="Aileron"/>
                <a:ea typeface="Aileron"/>
                <a:cs typeface="Aileron"/>
                <a:sym typeface="Aileron"/>
              </a:rPr>
              <a:t>Team Members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69970" y="6474631"/>
            <a:ext cx="6689229" cy="2082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6"/>
              </a:lnSpc>
            </a:pPr>
            <a:r>
              <a:rPr lang="en-US" sz="3800">
                <a:solidFill>
                  <a:srgbClr val="576179"/>
                </a:solidFill>
                <a:latin typeface="Aileron"/>
                <a:ea typeface="Aileron"/>
                <a:cs typeface="Aileron"/>
                <a:sym typeface="Aileron"/>
              </a:rPr>
              <a:t>A.Gopichand-AP24110010980</a:t>
            </a:r>
          </a:p>
          <a:p>
            <a:pPr algn="l">
              <a:lnSpc>
                <a:spcPts val="4066"/>
              </a:lnSpc>
            </a:pPr>
            <a:r>
              <a:rPr lang="en-US" sz="3800">
                <a:solidFill>
                  <a:srgbClr val="576179"/>
                </a:solidFill>
                <a:latin typeface="Aileron"/>
                <a:ea typeface="Aileron"/>
                <a:cs typeface="Aileron"/>
                <a:sym typeface="Aileron"/>
              </a:rPr>
              <a:t>I.Shashank  -   AP24110010990</a:t>
            </a:r>
          </a:p>
          <a:p>
            <a:pPr algn="l">
              <a:lnSpc>
                <a:spcPts val="4066"/>
              </a:lnSpc>
            </a:pPr>
            <a:r>
              <a:rPr lang="en-US" sz="3800">
                <a:solidFill>
                  <a:srgbClr val="576179"/>
                </a:solidFill>
                <a:latin typeface="Aileron"/>
                <a:ea typeface="Aileron"/>
                <a:cs typeface="Aileron"/>
                <a:sym typeface="Aileron"/>
              </a:rPr>
              <a:t>Raya Charan- AP24110011042</a:t>
            </a:r>
          </a:p>
          <a:p>
            <a:pPr algn="l">
              <a:lnSpc>
                <a:spcPts val="4066"/>
              </a:lnSpc>
              <a:spcBef>
                <a:spcPct val="0"/>
              </a:spcBef>
            </a:pPr>
            <a:r>
              <a:rPr lang="en-US" sz="3800">
                <a:solidFill>
                  <a:srgbClr val="576179"/>
                </a:solidFill>
                <a:latin typeface="Aileron"/>
                <a:ea typeface="Aileron"/>
                <a:cs typeface="Aileron"/>
                <a:sym typeface="Aileron"/>
              </a:rPr>
              <a:t>N.Jagadish  -  AP24110011048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9144000" y="1355173"/>
            <a:ext cx="10042068" cy="6664282"/>
          </a:xfrm>
          <a:custGeom>
            <a:avLst/>
            <a:gdLst/>
            <a:ahLst/>
            <a:cxnLst/>
            <a:rect r="r" b="b" t="t" l="l"/>
            <a:pathLst>
              <a:path h="6664282" w="10042068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898068" y="2179650"/>
            <a:ext cx="10042068" cy="6664282"/>
          </a:xfrm>
          <a:custGeom>
            <a:avLst/>
            <a:gdLst/>
            <a:ahLst/>
            <a:cxnLst/>
            <a:rect r="r" b="b" t="t" l="l"/>
            <a:pathLst>
              <a:path h="6664282" w="10042068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596978" y="4702064"/>
            <a:ext cx="4216232" cy="2798045"/>
          </a:xfrm>
          <a:custGeom>
            <a:avLst/>
            <a:gdLst/>
            <a:ahLst/>
            <a:cxnLst/>
            <a:rect r="r" b="b" t="t" l="l"/>
            <a:pathLst>
              <a:path h="2798045" w="4216232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540716" y="2311677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05789" y="-488243"/>
            <a:ext cx="5381659" cy="4060706"/>
          </a:xfrm>
          <a:custGeom>
            <a:avLst/>
            <a:gdLst/>
            <a:ahLst/>
            <a:cxnLst/>
            <a:rect r="r" b="b" t="t" l="l"/>
            <a:pathLst>
              <a:path h="4060706" w="5381659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031403" y="6736988"/>
            <a:ext cx="5581585" cy="4211560"/>
          </a:xfrm>
          <a:custGeom>
            <a:avLst/>
            <a:gdLst/>
            <a:ahLst/>
            <a:cxnLst/>
            <a:rect r="r" b="b" t="t" l="l"/>
            <a:pathLst>
              <a:path h="4211560" w="5581585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577425" y="2225952"/>
            <a:ext cx="13377004" cy="376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1"/>
              </a:lnSpc>
            </a:pPr>
            <a:r>
              <a:rPr lang="en-US" sz="27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</a:t>
            </a:r>
            <a:r>
              <a:rPr lang="en-US" b="true" sz="27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is Data Compression?</a:t>
            </a:r>
          </a:p>
          <a:p>
            <a:pPr algn="l" marL="604519" indent="-302260" lvl="1">
              <a:lnSpc>
                <a:spcPts val="4311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Process of reducing the size of data to save storage and transmission time.</a:t>
            </a:r>
          </a:p>
          <a:p>
            <a:pPr algn="l" marL="604519" indent="-302260" lvl="1">
              <a:lnSpc>
                <a:spcPts val="4311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Two types:</a:t>
            </a:r>
          </a:p>
          <a:p>
            <a:pPr algn="l" marL="1209039" indent="-403013" lvl="2">
              <a:lnSpc>
                <a:spcPts val="4311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Lossless Compression – No data is lost (Huffman, LZW, PNG).</a:t>
            </a:r>
          </a:p>
          <a:p>
            <a:pPr algn="l" marL="1209039" indent="-403013" lvl="2">
              <a:lnSpc>
                <a:spcPts val="4311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Lossy Compression – Some data is lost (JPEG, MP3).</a:t>
            </a:r>
          </a:p>
          <a:p>
            <a:pPr algn="l">
              <a:lnSpc>
                <a:spcPts val="4311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486400" y="323781"/>
            <a:ext cx="7315200" cy="1409839"/>
          </a:xfrm>
          <a:custGeom>
            <a:avLst/>
            <a:gdLst/>
            <a:ahLst/>
            <a:cxnLst/>
            <a:rect r="r" b="b" t="t" l="l"/>
            <a:pathLst>
              <a:path h="1409839" w="7315200">
                <a:moveTo>
                  <a:pt x="0" y="0"/>
                </a:moveTo>
                <a:lnTo>
                  <a:pt x="7315200" y="0"/>
                </a:lnTo>
                <a:lnTo>
                  <a:pt x="7315200" y="1409838"/>
                </a:lnTo>
                <a:lnTo>
                  <a:pt x="0" y="14098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029448" y="618681"/>
            <a:ext cx="4914903" cy="8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7"/>
              </a:lnSpc>
            </a:pPr>
            <a:r>
              <a:rPr lang="en-US" sz="6399" b="true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Introduction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77425" y="6015362"/>
            <a:ext cx="13377004" cy="376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1"/>
              </a:lnSpc>
            </a:pPr>
            <a:r>
              <a:rPr lang="en-US" sz="27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</a:t>
            </a:r>
            <a:r>
              <a:rPr lang="en-US" b="true" sz="27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is Data Compression?</a:t>
            </a:r>
          </a:p>
          <a:p>
            <a:pPr algn="l" marL="604519" indent="-302260" lvl="1">
              <a:lnSpc>
                <a:spcPts val="4311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Process of reducing the size of data to save storage and transmission time.</a:t>
            </a:r>
          </a:p>
          <a:p>
            <a:pPr algn="l" marL="604519" indent="-302260" lvl="1">
              <a:lnSpc>
                <a:spcPts val="4311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Two types:</a:t>
            </a:r>
          </a:p>
          <a:p>
            <a:pPr algn="l" marL="1209039" indent="-403013" lvl="2">
              <a:lnSpc>
                <a:spcPts val="4311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Lossless Compression – No data is lost (Huffman, LZW, PNG).</a:t>
            </a:r>
          </a:p>
          <a:p>
            <a:pPr algn="l" marL="1209039" indent="-403013" lvl="2">
              <a:lnSpc>
                <a:spcPts val="4311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Lossy Compression – Some data is lost (JPEG, MP3).</a:t>
            </a:r>
          </a:p>
          <a:p>
            <a:pPr algn="l">
              <a:lnSpc>
                <a:spcPts val="4311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0717673" y="793797"/>
            <a:ext cx="8638773" cy="5733004"/>
          </a:xfrm>
          <a:custGeom>
            <a:avLst/>
            <a:gdLst/>
            <a:ahLst/>
            <a:cxnLst/>
            <a:rect r="r" b="b" t="t" l="l"/>
            <a:pathLst>
              <a:path h="5733004" w="8638773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68815" y="2927354"/>
            <a:ext cx="8182690" cy="5430330"/>
          </a:xfrm>
          <a:custGeom>
            <a:avLst/>
            <a:gdLst/>
            <a:ahLst/>
            <a:cxnLst/>
            <a:rect r="r" b="b" t="t" l="l"/>
            <a:pathLst>
              <a:path h="5430330" w="818269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69859" y="394684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530371" y="5393013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5262" y="-488243"/>
            <a:ext cx="5281132" cy="3984854"/>
          </a:xfrm>
          <a:custGeom>
            <a:avLst/>
            <a:gdLst/>
            <a:ahLst/>
            <a:cxnLst/>
            <a:rect r="r" b="b" t="t" l="l"/>
            <a:pathLst>
              <a:path h="3984854" w="5281132">
                <a:moveTo>
                  <a:pt x="0" y="0"/>
                </a:moveTo>
                <a:lnTo>
                  <a:pt x="5281132" y="0"/>
                </a:lnTo>
                <a:lnTo>
                  <a:pt x="5281132" y="3984854"/>
                </a:lnTo>
                <a:lnTo>
                  <a:pt x="0" y="3984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409572" y="6838370"/>
            <a:ext cx="5171931" cy="3902457"/>
          </a:xfrm>
          <a:custGeom>
            <a:avLst/>
            <a:gdLst/>
            <a:ahLst/>
            <a:cxnLst/>
            <a:rect r="r" b="b" t="t" l="l"/>
            <a:pathLst>
              <a:path h="3902457" w="5171931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687957" y="3041654"/>
            <a:ext cx="14600043" cy="647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1"/>
              </a:lnSpc>
            </a:pPr>
            <a:r>
              <a:rPr lang="en-US" sz="27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</a:t>
            </a:r>
            <a:r>
              <a:rPr lang="en-US" b="true" sz="27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efinition</a:t>
            </a: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algn="l">
              <a:lnSpc>
                <a:spcPts val="4311"/>
              </a:lnSpc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 variable-length prefix coding technique that assigns shorter codes to frequent characters and longer codes to rare characters.</a:t>
            </a:r>
          </a:p>
          <a:p>
            <a:pPr algn="l">
              <a:lnSpc>
                <a:spcPts val="4311"/>
              </a:lnSpc>
            </a:pPr>
            <a:r>
              <a:rPr lang="en-US" b="true" sz="27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Concepts:</a:t>
            </a:r>
          </a:p>
          <a:p>
            <a:pPr algn="l" marL="604519" indent="-302260" lvl="1">
              <a:lnSpc>
                <a:spcPts val="4311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Builds a binary tree based on character frequencies</a:t>
            </a:r>
          </a:p>
          <a:p>
            <a:pPr algn="l" marL="604519" indent="-302260" lvl="1">
              <a:lnSpc>
                <a:spcPts val="4311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 code is a prefix of another code</a:t>
            </a:r>
          </a:p>
          <a:p>
            <a:pPr algn="l" marL="604519" indent="-302260" lvl="1">
              <a:lnSpc>
                <a:spcPts val="4311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Ensures optimality for symbol-by-symbol coding</a:t>
            </a:r>
          </a:p>
          <a:p>
            <a:pPr algn="l">
              <a:lnSpc>
                <a:spcPts val="4311"/>
              </a:lnSpc>
            </a:pPr>
            <a:r>
              <a:rPr lang="en-US" b="true" sz="27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It Works:</a:t>
            </a:r>
          </a:p>
          <a:p>
            <a:pPr algn="l" marL="604519" indent="-302260" lvl="1">
              <a:lnSpc>
                <a:spcPts val="4311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High-frequency characters → shorter bit sequences</a:t>
            </a:r>
          </a:p>
          <a:p>
            <a:pPr algn="l" marL="604519" indent="-302260" lvl="1">
              <a:lnSpc>
                <a:spcPts val="4311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Low-frequency characters → longer bit sequences</a:t>
            </a:r>
          </a:p>
          <a:p>
            <a:pPr algn="l" marL="604519" indent="-302260" lvl="1">
              <a:lnSpc>
                <a:spcPts val="4311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Results in reduced overall bit usage</a:t>
            </a:r>
          </a:p>
          <a:p>
            <a:pPr algn="l">
              <a:lnSpc>
                <a:spcPts val="4311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724224" y="394684"/>
            <a:ext cx="11271313" cy="2172289"/>
          </a:xfrm>
          <a:custGeom>
            <a:avLst/>
            <a:gdLst/>
            <a:ahLst/>
            <a:cxnLst/>
            <a:rect r="r" b="b" t="t" l="l"/>
            <a:pathLst>
              <a:path h="2172289" w="11271313">
                <a:moveTo>
                  <a:pt x="0" y="0"/>
                </a:moveTo>
                <a:lnTo>
                  <a:pt x="11271313" y="0"/>
                </a:lnTo>
                <a:lnTo>
                  <a:pt x="11271313" y="2172290"/>
                </a:lnTo>
                <a:lnTo>
                  <a:pt x="0" y="21722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524447" y="1061285"/>
            <a:ext cx="9728265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20"/>
              </a:lnSpc>
            </a:pPr>
            <a:r>
              <a:rPr lang="en-US" sz="6000" b="true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What is Huffman Coding ?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0717673" y="793797"/>
            <a:ext cx="8638773" cy="5733004"/>
          </a:xfrm>
          <a:custGeom>
            <a:avLst/>
            <a:gdLst/>
            <a:ahLst/>
            <a:cxnLst/>
            <a:rect r="r" b="b" t="t" l="l"/>
            <a:pathLst>
              <a:path h="5733004" w="8638773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68815" y="2927354"/>
            <a:ext cx="8182690" cy="5430330"/>
          </a:xfrm>
          <a:custGeom>
            <a:avLst/>
            <a:gdLst/>
            <a:ahLst/>
            <a:cxnLst/>
            <a:rect r="r" b="b" t="t" l="l"/>
            <a:pathLst>
              <a:path h="5430330" w="818269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64250" y="1962006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168815" y="6526800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5262" y="-488243"/>
            <a:ext cx="5281132" cy="3984854"/>
          </a:xfrm>
          <a:custGeom>
            <a:avLst/>
            <a:gdLst/>
            <a:ahLst/>
            <a:cxnLst/>
            <a:rect r="r" b="b" t="t" l="l"/>
            <a:pathLst>
              <a:path h="3984854" w="5281132">
                <a:moveTo>
                  <a:pt x="0" y="0"/>
                </a:moveTo>
                <a:lnTo>
                  <a:pt x="5281132" y="0"/>
                </a:lnTo>
                <a:lnTo>
                  <a:pt x="5281132" y="3984854"/>
                </a:lnTo>
                <a:lnTo>
                  <a:pt x="0" y="3984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409572" y="6838370"/>
            <a:ext cx="5171931" cy="3902457"/>
          </a:xfrm>
          <a:custGeom>
            <a:avLst/>
            <a:gdLst/>
            <a:ahLst/>
            <a:cxnLst/>
            <a:rect r="r" b="b" t="t" l="l"/>
            <a:pathLst>
              <a:path h="3902457" w="5171931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075870" y="2822579"/>
            <a:ext cx="12780975" cy="698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2"/>
              </a:lnSpc>
            </a:pPr>
            <a:r>
              <a:rPr lang="en-US" sz="33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  <a:r>
              <a:rPr lang="en-US" sz="3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.C</a:t>
            </a:r>
            <a:r>
              <a:rPr lang="en-US" sz="3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ount frequency of each character</a:t>
            </a:r>
          </a:p>
          <a:p>
            <a:pPr algn="l">
              <a:lnSpc>
                <a:spcPts val="5082"/>
              </a:lnSpc>
            </a:pPr>
            <a:r>
              <a:rPr lang="en-US" b="true" sz="33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  <a:r>
              <a:rPr lang="en-US" sz="3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lang="en-US" sz="3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Create leaf nodes for each character</a:t>
            </a:r>
          </a:p>
          <a:p>
            <a:pPr algn="l">
              <a:lnSpc>
                <a:spcPts val="5082"/>
              </a:lnSpc>
            </a:pPr>
            <a:r>
              <a:rPr lang="en-US" b="true" sz="33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  <a:r>
              <a:rPr lang="en-US" sz="3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lang="en-US" sz="3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Insert them into a min-heap</a:t>
            </a:r>
          </a:p>
          <a:p>
            <a:pPr algn="l">
              <a:lnSpc>
                <a:spcPts val="5082"/>
              </a:lnSpc>
            </a:pPr>
            <a:r>
              <a:rPr lang="en-US" b="true" sz="33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  <a:r>
              <a:rPr lang="en-US" sz="3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lang="en-US" sz="3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While heap has more than one node:</a:t>
            </a:r>
          </a:p>
          <a:p>
            <a:pPr algn="l" marL="712470" indent="-356235" lvl="1">
              <a:lnSpc>
                <a:spcPts val="5082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Extract 2 smallest nodes</a:t>
            </a:r>
          </a:p>
          <a:p>
            <a:pPr algn="l" marL="712470" indent="-356235" lvl="1">
              <a:lnSpc>
                <a:spcPts val="5082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Combine into a new node (sum of frequencies)</a:t>
            </a:r>
          </a:p>
          <a:p>
            <a:pPr algn="l" marL="712470" indent="-356235" lvl="1">
              <a:lnSpc>
                <a:spcPts val="5082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Insert back into heap</a:t>
            </a:r>
          </a:p>
          <a:p>
            <a:pPr algn="l">
              <a:lnSpc>
                <a:spcPts val="5082"/>
              </a:lnSpc>
            </a:pPr>
            <a:r>
              <a:rPr lang="en-US" b="true" sz="33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</a:t>
            </a:r>
            <a:r>
              <a:rPr lang="en-US" sz="3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lang="en-US" sz="3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Generate binary codes from the tree</a:t>
            </a:r>
          </a:p>
          <a:p>
            <a:pPr algn="l">
              <a:lnSpc>
                <a:spcPts val="5082"/>
              </a:lnSpc>
            </a:pPr>
            <a:r>
              <a:rPr lang="en-US" b="true" sz="33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</a:t>
            </a:r>
            <a:r>
              <a:rPr lang="en-US" sz="3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lang="en-US" sz="3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Encode the input text</a:t>
            </a:r>
          </a:p>
          <a:p>
            <a:pPr algn="l">
              <a:lnSpc>
                <a:spcPts val="5082"/>
              </a:lnSpc>
            </a:pPr>
            <a:r>
              <a:rPr lang="en-US" b="true" sz="33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</a:t>
            </a:r>
            <a:r>
              <a:rPr lang="en-US" sz="3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lang="en-US" sz="3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Calculate original size vs compressed size</a:t>
            </a:r>
          </a:p>
          <a:p>
            <a:pPr algn="l">
              <a:lnSpc>
                <a:spcPts val="5082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590095" y="411687"/>
            <a:ext cx="11733226" cy="2261313"/>
          </a:xfrm>
          <a:custGeom>
            <a:avLst/>
            <a:gdLst/>
            <a:ahLst/>
            <a:cxnLst/>
            <a:rect r="r" b="b" t="t" l="l"/>
            <a:pathLst>
              <a:path h="2261313" w="11733226">
                <a:moveTo>
                  <a:pt x="0" y="0"/>
                </a:moveTo>
                <a:lnTo>
                  <a:pt x="11733225" y="0"/>
                </a:lnTo>
                <a:lnTo>
                  <a:pt x="11733225" y="2261312"/>
                </a:lnTo>
                <a:lnTo>
                  <a:pt x="0" y="22613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639185" y="724414"/>
            <a:ext cx="9356352" cy="1712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8"/>
              </a:lnSpc>
            </a:pPr>
            <a:r>
              <a:rPr lang="en-US" sz="6222" b="true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Steps in Huffman Coding Algorithm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0717673" y="793797"/>
            <a:ext cx="8638773" cy="5733004"/>
          </a:xfrm>
          <a:custGeom>
            <a:avLst/>
            <a:gdLst/>
            <a:ahLst/>
            <a:cxnLst/>
            <a:rect r="r" b="b" t="t" l="l"/>
            <a:pathLst>
              <a:path h="5733004" w="8638773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68815" y="2927354"/>
            <a:ext cx="8182690" cy="5430330"/>
          </a:xfrm>
          <a:custGeom>
            <a:avLst/>
            <a:gdLst/>
            <a:ahLst/>
            <a:cxnLst/>
            <a:rect r="r" b="b" t="t" l="l"/>
            <a:pathLst>
              <a:path h="5430330" w="818269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69859" y="394684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168815" y="6526800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488243"/>
            <a:ext cx="4670423" cy="3524046"/>
          </a:xfrm>
          <a:custGeom>
            <a:avLst/>
            <a:gdLst/>
            <a:ahLst/>
            <a:cxnLst/>
            <a:rect r="r" b="b" t="t" l="l"/>
            <a:pathLst>
              <a:path h="3524046" w="4670423">
                <a:moveTo>
                  <a:pt x="0" y="0"/>
                </a:moveTo>
                <a:lnTo>
                  <a:pt x="4670423" y="0"/>
                </a:lnTo>
                <a:lnTo>
                  <a:pt x="4670423" y="3524047"/>
                </a:lnTo>
                <a:lnTo>
                  <a:pt x="0" y="3524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947662" y="7300977"/>
            <a:ext cx="4521303" cy="3411529"/>
          </a:xfrm>
          <a:custGeom>
            <a:avLst/>
            <a:gdLst/>
            <a:ahLst/>
            <a:cxnLst/>
            <a:rect r="r" b="b" t="t" l="l"/>
            <a:pathLst>
              <a:path h="3411529" w="4521303">
                <a:moveTo>
                  <a:pt x="4521303" y="3411529"/>
                </a:moveTo>
                <a:lnTo>
                  <a:pt x="0" y="3411529"/>
                </a:lnTo>
                <a:lnTo>
                  <a:pt x="0" y="0"/>
                </a:lnTo>
                <a:lnTo>
                  <a:pt x="4521303" y="0"/>
                </a:lnTo>
                <a:lnTo>
                  <a:pt x="4521303" y="3411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15596" y="3455937"/>
            <a:ext cx="13492718" cy="2600415"/>
          </a:xfrm>
          <a:custGeom>
            <a:avLst/>
            <a:gdLst/>
            <a:ahLst/>
            <a:cxnLst/>
            <a:rect r="r" b="b" t="t" l="l"/>
            <a:pathLst>
              <a:path h="2600415" w="13492718">
                <a:moveTo>
                  <a:pt x="0" y="0"/>
                </a:moveTo>
                <a:lnTo>
                  <a:pt x="13492718" y="0"/>
                </a:lnTo>
                <a:lnTo>
                  <a:pt x="13492718" y="2600415"/>
                </a:lnTo>
                <a:lnTo>
                  <a:pt x="0" y="2600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949327" y="1249570"/>
            <a:ext cx="9972678" cy="176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7"/>
              </a:lnSpc>
            </a:pPr>
            <a:r>
              <a:rPr lang="en-US" sz="6399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Time &amp; Space Complexity Analysis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694043" y="6238477"/>
            <a:ext cx="13514271" cy="2604569"/>
          </a:xfrm>
          <a:custGeom>
            <a:avLst/>
            <a:gdLst/>
            <a:ahLst/>
            <a:cxnLst/>
            <a:rect r="r" b="b" t="t" l="l"/>
            <a:pathLst>
              <a:path h="2604569" w="13514271">
                <a:moveTo>
                  <a:pt x="0" y="0"/>
                </a:moveTo>
                <a:lnTo>
                  <a:pt x="13514271" y="0"/>
                </a:lnTo>
                <a:lnTo>
                  <a:pt x="13514271" y="2604568"/>
                </a:lnTo>
                <a:lnTo>
                  <a:pt x="0" y="26045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429661" y="3584098"/>
            <a:ext cx="9282474" cy="266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9"/>
              </a:lnSpc>
            </a:pPr>
            <a:r>
              <a:rPr lang="en-US" sz="230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</a:t>
            </a:r>
            <a:r>
              <a:rPr lang="en-US" b="true" sz="230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ime Complexity</a:t>
            </a:r>
          </a:p>
          <a:p>
            <a:pPr algn="l" marL="497600" indent="-248800" lvl="1">
              <a:lnSpc>
                <a:spcPts val="3549"/>
              </a:lnSpc>
              <a:buFont typeface="Arial"/>
              <a:buChar char="•"/>
            </a:pPr>
            <a:r>
              <a:rPr lang="en-US" sz="230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Building min-heap: O(n)</a:t>
            </a:r>
          </a:p>
          <a:p>
            <a:pPr algn="l" marL="497600" indent="-248800" lvl="1">
              <a:lnSpc>
                <a:spcPts val="3549"/>
              </a:lnSpc>
              <a:buFont typeface="Arial"/>
              <a:buChar char="•"/>
            </a:pPr>
            <a:r>
              <a:rPr lang="en-US" sz="230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Extracting and inserting nodes: O(n log n)</a:t>
            </a:r>
          </a:p>
          <a:p>
            <a:pPr algn="l" marL="497600" indent="-248800" lvl="1">
              <a:lnSpc>
                <a:spcPts val="3549"/>
              </a:lnSpc>
              <a:buFont typeface="Arial"/>
              <a:buChar char="•"/>
            </a:pPr>
            <a:r>
              <a:rPr lang="en-US" sz="230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Generating codes via tree traversal: O(n)</a:t>
            </a:r>
          </a:p>
          <a:p>
            <a:pPr algn="l" marL="497600" indent="-248800" lvl="1">
              <a:lnSpc>
                <a:spcPts val="3549"/>
              </a:lnSpc>
              <a:buFont typeface="Arial"/>
              <a:buChar char="•"/>
            </a:pPr>
            <a:r>
              <a:rPr lang="en-US" sz="230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Overall Time Complexity: O(n log n)</a:t>
            </a:r>
          </a:p>
          <a:p>
            <a:pPr algn="l">
              <a:lnSpc>
                <a:spcPts val="354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429661" y="6517267"/>
            <a:ext cx="9838595" cy="2215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3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  <a:r>
              <a:rPr lang="en-US" b="true" sz="23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pace Complexity</a:t>
            </a:r>
          </a:p>
          <a:p>
            <a:pPr algn="l" marL="496571" indent="-248285" lvl="1">
              <a:lnSpc>
                <a:spcPts val="3542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Huffman Tree: O(n)</a:t>
            </a:r>
          </a:p>
          <a:p>
            <a:pPr algn="l" marL="496571" indent="-248285" lvl="1">
              <a:lnSpc>
                <a:spcPts val="3542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Code table: O(n)</a:t>
            </a:r>
          </a:p>
          <a:p>
            <a:pPr algn="l" marL="496571" indent="-248285" lvl="1">
              <a:lnSpc>
                <a:spcPts val="3542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Encoded output: varies based on frequencies</a:t>
            </a:r>
          </a:p>
          <a:p>
            <a:pPr algn="l">
              <a:lnSpc>
                <a:spcPts val="3542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3197075" y="3470813"/>
            <a:ext cx="1056248" cy="177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096"/>
              </a:lnSpc>
            </a:pPr>
            <a:r>
              <a:rPr lang="en-US" b="true" sz="643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1.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97333" y="6255548"/>
            <a:ext cx="1055989" cy="177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092"/>
              </a:lnSpc>
            </a:pPr>
            <a:r>
              <a:rPr lang="en-US" b="true" sz="643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2.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0717673" y="793797"/>
            <a:ext cx="8638773" cy="5733004"/>
          </a:xfrm>
          <a:custGeom>
            <a:avLst/>
            <a:gdLst/>
            <a:ahLst/>
            <a:cxnLst/>
            <a:rect r="r" b="b" t="t" l="l"/>
            <a:pathLst>
              <a:path h="5733004" w="8638773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68815" y="2927354"/>
            <a:ext cx="8182690" cy="5430330"/>
          </a:xfrm>
          <a:custGeom>
            <a:avLst/>
            <a:gdLst/>
            <a:ahLst/>
            <a:cxnLst/>
            <a:rect r="r" b="b" t="t" l="l"/>
            <a:pathLst>
              <a:path h="5430330" w="818269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69859" y="394684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883190" y="5143500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488243"/>
            <a:ext cx="4670423" cy="3524046"/>
          </a:xfrm>
          <a:custGeom>
            <a:avLst/>
            <a:gdLst/>
            <a:ahLst/>
            <a:cxnLst/>
            <a:rect r="r" b="b" t="t" l="l"/>
            <a:pathLst>
              <a:path h="3524046" w="4670423">
                <a:moveTo>
                  <a:pt x="0" y="0"/>
                </a:moveTo>
                <a:lnTo>
                  <a:pt x="4670423" y="0"/>
                </a:lnTo>
                <a:lnTo>
                  <a:pt x="4670423" y="3524047"/>
                </a:lnTo>
                <a:lnTo>
                  <a:pt x="0" y="3524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947662" y="7300977"/>
            <a:ext cx="4521303" cy="3411529"/>
          </a:xfrm>
          <a:custGeom>
            <a:avLst/>
            <a:gdLst/>
            <a:ahLst/>
            <a:cxnLst/>
            <a:rect r="r" b="b" t="t" l="l"/>
            <a:pathLst>
              <a:path h="3411529" w="4521303">
                <a:moveTo>
                  <a:pt x="4521303" y="3411529"/>
                </a:moveTo>
                <a:lnTo>
                  <a:pt x="0" y="3411529"/>
                </a:lnTo>
                <a:lnTo>
                  <a:pt x="0" y="0"/>
                </a:lnTo>
                <a:lnTo>
                  <a:pt x="4521303" y="0"/>
                </a:lnTo>
                <a:lnTo>
                  <a:pt x="4521303" y="3411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10618" y="2698808"/>
            <a:ext cx="13466764" cy="7589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5672" indent="-332836" lvl="1">
              <a:lnSpc>
                <a:spcPts val="431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8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Implemented using:</a:t>
            </a:r>
          </a:p>
          <a:p>
            <a:pPr algn="l" marL="1331344" indent="-443781" lvl="2">
              <a:lnSpc>
                <a:spcPts val="4316"/>
              </a:lnSpc>
              <a:spcBef>
                <a:spcPct val="0"/>
              </a:spcBef>
              <a:buFont typeface="Arial"/>
              <a:buChar char="⚬"/>
            </a:pPr>
            <a:r>
              <a:rPr lang="en-US" sz="308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Priority Queue (Min-Heap) to build Huffman Tree</a:t>
            </a:r>
          </a:p>
          <a:p>
            <a:pPr algn="l" marL="1331344" indent="-443781" lvl="2">
              <a:lnSpc>
                <a:spcPts val="4316"/>
              </a:lnSpc>
              <a:spcBef>
                <a:spcPct val="0"/>
              </a:spcBef>
              <a:buFont typeface="Arial"/>
              <a:buChar char="⚬"/>
            </a:pPr>
            <a:r>
              <a:rPr lang="en-US" sz="308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Struct Node to store characters, frequency, and child pointers</a:t>
            </a:r>
          </a:p>
          <a:p>
            <a:pPr algn="l" marL="1331344" indent="-443781" lvl="2">
              <a:lnSpc>
                <a:spcPts val="4316"/>
              </a:lnSpc>
              <a:spcBef>
                <a:spcPct val="0"/>
              </a:spcBef>
              <a:buFont typeface="Arial"/>
              <a:buChar char="⚬"/>
            </a:pPr>
            <a:r>
              <a:rPr lang="en-US" sz="308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Recursive function to generate Huffman codes</a:t>
            </a:r>
          </a:p>
          <a:p>
            <a:pPr algn="l" marL="1331344" indent="-443781" lvl="2">
              <a:lnSpc>
                <a:spcPts val="4316"/>
              </a:lnSpc>
              <a:spcBef>
                <a:spcPct val="0"/>
              </a:spcBef>
              <a:buFont typeface="Arial"/>
              <a:buChar char="⚬"/>
            </a:pPr>
            <a:r>
              <a:rPr lang="en-US" sz="308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Mapping (map) to store character → code</a:t>
            </a:r>
          </a:p>
          <a:p>
            <a:pPr algn="l" marL="665672" indent="-332836" lvl="1">
              <a:lnSpc>
                <a:spcPts val="431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8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Steps performed in the program:</a:t>
            </a:r>
          </a:p>
          <a:p>
            <a:pPr algn="l" marL="1331344" indent="-443781" lvl="2">
              <a:lnSpc>
                <a:spcPts val="4316"/>
              </a:lnSpc>
              <a:spcBef>
                <a:spcPct val="0"/>
              </a:spcBef>
              <a:buAutoNum type="alphaLcPeriod" startAt="1"/>
            </a:pPr>
            <a:r>
              <a:rPr lang="en-US" sz="308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User enters number of characters</a:t>
            </a:r>
          </a:p>
          <a:p>
            <a:pPr algn="l" marL="1331344" indent="-443781" lvl="2">
              <a:lnSpc>
                <a:spcPts val="4316"/>
              </a:lnSpc>
              <a:spcBef>
                <a:spcPct val="0"/>
              </a:spcBef>
              <a:buAutoNum type="alphaLcPeriod" startAt="1"/>
            </a:pPr>
            <a:r>
              <a:rPr lang="en-US" sz="308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Inputs each character with its frequency</a:t>
            </a:r>
          </a:p>
          <a:p>
            <a:pPr algn="l" marL="1331344" indent="-443781" lvl="2">
              <a:lnSpc>
                <a:spcPts val="4316"/>
              </a:lnSpc>
              <a:spcBef>
                <a:spcPct val="0"/>
              </a:spcBef>
              <a:buAutoNum type="alphaLcPeriod" startAt="1"/>
            </a:pPr>
            <a:r>
              <a:rPr lang="en-US" sz="308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Huffman Tree is constructed</a:t>
            </a:r>
          </a:p>
          <a:p>
            <a:pPr algn="l" marL="1331344" indent="-443781" lvl="2">
              <a:lnSpc>
                <a:spcPts val="4316"/>
              </a:lnSpc>
              <a:spcBef>
                <a:spcPct val="0"/>
              </a:spcBef>
              <a:buAutoNum type="alphaLcPeriod" startAt="1"/>
            </a:pPr>
            <a:r>
              <a:rPr lang="en-US" sz="308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Huffman Codes are generated</a:t>
            </a:r>
          </a:p>
          <a:p>
            <a:pPr algn="l" marL="1331344" indent="-443781" lvl="2">
              <a:lnSpc>
                <a:spcPts val="4316"/>
              </a:lnSpc>
              <a:spcBef>
                <a:spcPct val="0"/>
              </a:spcBef>
              <a:buAutoNum type="alphaLcPeriod" startAt="1"/>
            </a:pPr>
            <a:r>
              <a:rPr lang="en-US" sz="308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User enters the text to encode</a:t>
            </a:r>
          </a:p>
          <a:p>
            <a:pPr algn="l" marL="1331344" indent="-443781" lvl="2">
              <a:lnSpc>
                <a:spcPts val="4316"/>
              </a:lnSpc>
              <a:spcBef>
                <a:spcPct val="0"/>
              </a:spcBef>
              <a:buAutoNum type="alphaLcPeriod" startAt="1"/>
            </a:pPr>
            <a:r>
              <a:rPr lang="en-US" sz="308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Program displays original vs compressed size</a:t>
            </a:r>
          </a:p>
          <a:p>
            <a:pPr algn="l" marL="1331344" indent="-443781" lvl="2">
              <a:lnSpc>
                <a:spcPts val="4316"/>
              </a:lnSpc>
              <a:spcBef>
                <a:spcPct val="0"/>
              </a:spcBef>
              <a:buAutoNum type="alphaLcPeriod" startAt="1"/>
            </a:pPr>
            <a:r>
              <a:rPr lang="en-US" sz="308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Encoded (compressed) text is shown</a:t>
            </a:r>
          </a:p>
          <a:p>
            <a:pPr algn="l">
              <a:lnSpc>
                <a:spcPts val="4316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206865" y="394684"/>
            <a:ext cx="9874271" cy="1903041"/>
          </a:xfrm>
          <a:custGeom>
            <a:avLst/>
            <a:gdLst/>
            <a:ahLst/>
            <a:cxnLst/>
            <a:rect r="r" b="b" t="t" l="l"/>
            <a:pathLst>
              <a:path h="1903041" w="9874271">
                <a:moveTo>
                  <a:pt x="0" y="0"/>
                </a:moveTo>
                <a:lnTo>
                  <a:pt x="9874270" y="0"/>
                </a:lnTo>
                <a:lnTo>
                  <a:pt x="9874270" y="1903042"/>
                </a:lnTo>
                <a:lnTo>
                  <a:pt x="0" y="19030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968955" y="863761"/>
            <a:ext cx="8388374" cy="8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7"/>
              </a:lnSpc>
            </a:pPr>
            <a:r>
              <a:rPr lang="en-US" sz="6399" b="true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C++ Implementation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435380"/>
            <a:ext cx="4670423" cy="3524046"/>
          </a:xfrm>
          <a:custGeom>
            <a:avLst/>
            <a:gdLst/>
            <a:ahLst/>
            <a:cxnLst/>
            <a:rect r="r" b="b" t="t" l="l"/>
            <a:pathLst>
              <a:path h="3524046" w="4670423">
                <a:moveTo>
                  <a:pt x="0" y="0"/>
                </a:moveTo>
                <a:lnTo>
                  <a:pt x="4670423" y="0"/>
                </a:lnTo>
                <a:lnTo>
                  <a:pt x="4670423" y="3524046"/>
                </a:lnTo>
                <a:lnTo>
                  <a:pt x="0" y="35240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1459507" y="-90484"/>
            <a:ext cx="8638773" cy="5733004"/>
          </a:xfrm>
          <a:custGeom>
            <a:avLst/>
            <a:gdLst/>
            <a:ahLst/>
            <a:cxnLst/>
            <a:rect r="r" b="b" t="t" l="l"/>
            <a:pathLst>
              <a:path h="5733004" w="8638773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 r:embed="rId4">
              <a:alphaModFix amt="1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011028" y="7244296"/>
            <a:ext cx="4521303" cy="3411529"/>
          </a:xfrm>
          <a:custGeom>
            <a:avLst/>
            <a:gdLst/>
            <a:ahLst/>
            <a:cxnLst/>
            <a:rect r="r" b="b" t="t" l="l"/>
            <a:pathLst>
              <a:path h="3411529" w="4521303">
                <a:moveTo>
                  <a:pt x="4521303" y="3411528"/>
                </a:moveTo>
                <a:lnTo>
                  <a:pt x="0" y="3411528"/>
                </a:lnTo>
                <a:lnTo>
                  <a:pt x="0" y="0"/>
                </a:lnTo>
                <a:lnTo>
                  <a:pt x="4521303" y="0"/>
                </a:lnTo>
                <a:lnTo>
                  <a:pt x="4521303" y="34115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79885" y="186690"/>
            <a:ext cx="8531143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0"/>
              </a:lnSpc>
            </a:pPr>
            <a:r>
              <a:rPr lang="en-US" b="true" sz="60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Sample Output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70757" y="2257106"/>
            <a:ext cx="810226" cy="1363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346"/>
              </a:lnSpc>
            </a:pPr>
            <a:r>
              <a:rPr lang="en-US" b="true" sz="4938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1.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34836" y="3919603"/>
            <a:ext cx="810226" cy="1363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346"/>
              </a:lnSpc>
            </a:pPr>
            <a:r>
              <a:rPr lang="en-US" b="true" sz="4938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2.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34836" y="5582461"/>
            <a:ext cx="810226" cy="1363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346"/>
              </a:lnSpc>
            </a:pPr>
            <a:r>
              <a:rPr lang="en-US" b="true" sz="4938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3.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734836" y="7245319"/>
            <a:ext cx="810226" cy="1363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346"/>
              </a:lnSpc>
            </a:pPr>
            <a:r>
              <a:rPr lang="en-US" b="true" sz="4938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4.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04151" y="2257106"/>
            <a:ext cx="810226" cy="1363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346"/>
              </a:lnSpc>
            </a:pPr>
            <a:r>
              <a:rPr lang="en-US" b="true" sz="4938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5.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68231" y="3919603"/>
            <a:ext cx="810226" cy="1363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346"/>
              </a:lnSpc>
            </a:pPr>
            <a:r>
              <a:rPr lang="en-US" b="true" sz="4938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6.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68231" y="5582461"/>
            <a:ext cx="810226" cy="1363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346"/>
              </a:lnSpc>
            </a:pPr>
            <a:r>
              <a:rPr lang="en-US" b="true" sz="4938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7.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68231" y="7245319"/>
            <a:ext cx="810226" cy="1363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346"/>
              </a:lnSpc>
            </a:pPr>
            <a:r>
              <a:rPr lang="en-US" b="true" sz="4938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8.</a:t>
            </a:r>
          </a:p>
        </p:txBody>
      </p:sp>
      <p:sp>
        <p:nvSpPr>
          <p:cNvPr name="Freeform 14" id="14"/>
          <p:cNvSpPr/>
          <p:nvPr/>
        </p:nvSpPr>
        <p:spPr>
          <a:xfrm flipH="true" flipV="false" rot="0">
            <a:off x="-898068" y="3334120"/>
            <a:ext cx="10042068" cy="6664282"/>
          </a:xfrm>
          <a:custGeom>
            <a:avLst/>
            <a:gdLst/>
            <a:ahLst/>
            <a:cxnLst/>
            <a:rect r="r" b="b" t="t" l="l"/>
            <a:pathLst>
              <a:path h="6664282" w="10042068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4">
              <a:alphaModFix amt="1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169859" y="5618309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-2092740" y="2518301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5118142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2" y="3396584"/>
                </a:lnTo>
                <a:lnTo>
                  <a:pt x="511814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171242" y="1269493"/>
            <a:ext cx="7497798" cy="8857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5"/>
              </a:lnSpc>
              <a:spcBef>
                <a:spcPct val="0"/>
              </a:spcBef>
            </a:pPr>
            <a:r>
              <a:rPr lang="en-US" b="true" sz="265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Use</a:t>
            </a:r>
            <a:r>
              <a:rPr lang="en-US" b="true" sz="265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r Input:</a:t>
            </a:r>
          </a:p>
          <a:p>
            <a:pPr algn="l" marL="573036" indent="-286518" lvl="1">
              <a:lnSpc>
                <a:spcPts val="3715"/>
              </a:lnSpc>
              <a:spcBef>
                <a:spcPct val="0"/>
              </a:spcBef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Number of characters: 4</a:t>
            </a:r>
          </a:p>
          <a:p>
            <a:pPr algn="l" marL="573036" indent="-286518" lvl="1">
              <a:lnSpc>
                <a:spcPts val="3715"/>
              </a:lnSpc>
              <a:spcBef>
                <a:spcPct val="0"/>
              </a:spcBef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Characters &amp; Frequencies:</a:t>
            </a:r>
          </a:p>
          <a:p>
            <a:pPr algn="l" marL="1146073" indent="-382024" lvl="2">
              <a:lnSpc>
                <a:spcPts val="3715"/>
              </a:lnSpc>
              <a:spcBef>
                <a:spcPct val="0"/>
              </a:spcBef>
              <a:buFont typeface="Arial"/>
              <a:buChar char="⚬"/>
            </a:pPr>
            <a:r>
              <a:rPr lang="en-US" sz="265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 → 5</a:t>
            </a:r>
          </a:p>
          <a:p>
            <a:pPr algn="l" marL="1146073" indent="-382024" lvl="2">
              <a:lnSpc>
                <a:spcPts val="3715"/>
              </a:lnSpc>
              <a:spcBef>
                <a:spcPct val="0"/>
              </a:spcBef>
              <a:buFont typeface="Arial"/>
              <a:buChar char="⚬"/>
            </a:pPr>
            <a:r>
              <a:rPr lang="en-US" sz="265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 → 1</a:t>
            </a:r>
          </a:p>
          <a:p>
            <a:pPr algn="l" marL="1146073" indent="-382024" lvl="2">
              <a:lnSpc>
                <a:spcPts val="3715"/>
              </a:lnSpc>
              <a:spcBef>
                <a:spcPct val="0"/>
              </a:spcBef>
              <a:buFont typeface="Arial"/>
              <a:buChar char="⚬"/>
            </a:pPr>
            <a:r>
              <a:rPr lang="en-US" sz="265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 → 6</a:t>
            </a:r>
          </a:p>
          <a:p>
            <a:pPr algn="l" marL="1146073" indent="-382024" lvl="2">
              <a:lnSpc>
                <a:spcPts val="3715"/>
              </a:lnSpc>
              <a:spcBef>
                <a:spcPct val="0"/>
              </a:spcBef>
              <a:buFont typeface="Arial"/>
              <a:buChar char="⚬"/>
            </a:pPr>
            <a:r>
              <a:rPr lang="en-US" sz="265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 → 3</a:t>
            </a:r>
          </a:p>
          <a:p>
            <a:pPr algn="l">
              <a:lnSpc>
                <a:spcPts val="3715"/>
              </a:lnSpc>
              <a:spcBef>
                <a:spcPct val="0"/>
              </a:spcBef>
            </a:pPr>
            <a:r>
              <a:rPr lang="en-US" b="true" sz="265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Generated Huffman Codes:</a:t>
            </a:r>
          </a:p>
          <a:p>
            <a:pPr algn="l" marL="573036" indent="-286518" lvl="1">
              <a:lnSpc>
                <a:spcPts val="3715"/>
              </a:lnSpc>
              <a:spcBef>
                <a:spcPct val="0"/>
              </a:spcBef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 → 10</a:t>
            </a:r>
          </a:p>
          <a:p>
            <a:pPr algn="l" marL="573036" indent="-286518" lvl="1">
              <a:lnSpc>
                <a:spcPts val="3715"/>
              </a:lnSpc>
              <a:spcBef>
                <a:spcPct val="0"/>
              </a:spcBef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 → 110</a:t>
            </a:r>
          </a:p>
          <a:p>
            <a:pPr algn="l" marL="573036" indent="-286518" lvl="1">
              <a:lnSpc>
                <a:spcPts val="3715"/>
              </a:lnSpc>
              <a:spcBef>
                <a:spcPct val="0"/>
              </a:spcBef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 → 0</a:t>
            </a:r>
          </a:p>
          <a:p>
            <a:pPr algn="l" marL="573036" indent="-286518" lvl="1">
              <a:lnSpc>
                <a:spcPts val="3715"/>
              </a:lnSpc>
              <a:spcBef>
                <a:spcPct val="0"/>
              </a:spcBef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 → 111</a:t>
            </a:r>
          </a:p>
          <a:p>
            <a:pPr algn="just">
              <a:lnSpc>
                <a:spcPts val="3715"/>
              </a:lnSpc>
              <a:spcBef>
                <a:spcPct val="0"/>
              </a:spcBef>
            </a:pPr>
            <a:r>
              <a:rPr lang="en-US" b="true" sz="265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Text to Encode:</a:t>
            </a:r>
          </a:p>
          <a:p>
            <a:pPr algn="just">
              <a:lnSpc>
                <a:spcPts val="3715"/>
              </a:lnSpc>
              <a:spcBef>
                <a:spcPct val="0"/>
              </a:spcBef>
            </a:pPr>
            <a:r>
              <a:rPr lang="en-US" sz="265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ACD</a:t>
            </a:r>
          </a:p>
          <a:p>
            <a:pPr algn="just">
              <a:lnSpc>
                <a:spcPts val="3715"/>
              </a:lnSpc>
              <a:spcBef>
                <a:spcPct val="0"/>
              </a:spcBef>
            </a:pPr>
            <a:r>
              <a:rPr lang="en-US" sz="265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Results:</a:t>
            </a:r>
          </a:p>
          <a:p>
            <a:pPr algn="just" marL="573036" indent="-286518" lvl="1">
              <a:lnSpc>
                <a:spcPts val="3715"/>
              </a:lnSpc>
              <a:spcBef>
                <a:spcPct val="0"/>
              </a:spcBef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Original Size: 24 bits</a:t>
            </a:r>
          </a:p>
          <a:p>
            <a:pPr algn="just" marL="573036" indent="-286518" lvl="1">
              <a:lnSpc>
                <a:spcPts val="3715"/>
              </a:lnSpc>
              <a:spcBef>
                <a:spcPct val="0"/>
              </a:spcBef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Compressed Size: 6 bits</a:t>
            </a:r>
          </a:p>
          <a:p>
            <a:pPr algn="just" marL="573036" indent="-286518" lvl="1">
              <a:lnSpc>
                <a:spcPts val="3715"/>
              </a:lnSpc>
              <a:spcBef>
                <a:spcPct val="0"/>
              </a:spcBef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Encoded Output: 100111</a:t>
            </a:r>
          </a:p>
          <a:p>
            <a:pPr algn="just">
              <a:lnSpc>
                <a:spcPts val="3715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9144000" y="1355173"/>
            <a:ext cx="10042068" cy="6664282"/>
          </a:xfrm>
          <a:custGeom>
            <a:avLst/>
            <a:gdLst/>
            <a:ahLst/>
            <a:cxnLst/>
            <a:rect r="r" b="b" t="t" l="l"/>
            <a:pathLst>
              <a:path h="6664282" w="10042068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898068" y="2179650"/>
            <a:ext cx="10042068" cy="6664282"/>
          </a:xfrm>
          <a:custGeom>
            <a:avLst/>
            <a:gdLst/>
            <a:ahLst/>
            <a:cxnLst/>
            <a:rect r="r" b="b" t="t" l="l"/>
            <a:pathLst>
              <a:path h="6664282" w="10042068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11278" y="4982792"/>
            <a:ext cx="4216232" cy="2798045"/>
          </a:xfrm>
          <a:custGeom>
            <a:avLst/>
            <a:gdLst/>
            <a:ahLst/>
            <a:cxnLst/>
            <a:rect r="r" b="b" t="t" l="l"/>
            <a:pathLst>
              <a:path h="2798045" w="4216232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540716" y="2311677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05789" y="-488243"/>
            <a:ext cx="5381659" cy="4060706"/>
          </a:xfrm>
          <a:custGeom>
            <a:avLst/>
            <a:gdLst/>
            <a:ahLst/>
            <a:cxnLst/>
            <a:rect r="r" b="b" t="t" l="l"/>
            <a:pathLst>
              <a:path h="4060706" w="5381659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031403" y="6736988"/>
            <a:ext cx="5581585" cy="4211560"/>
          </a:xfrm>
          <a:custGeom>
            <a:avLst/>
            <a:gdLst/>
            <a:ahLst/>
            <a:cxnLst/>
            <a:rect r="r" b="b" t="t" l="l"/>
            <a:pathLst>
              <a:path h="4211560" w="5581585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26419" y="3112359"/>
            <a:ext cx="5417581" cy="2497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2"/>
              </a:lnSpc>
            </a:pPr>
            <a:r>
              <a:rPr lang="en-US" b="true" sz="259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Text Compre</a:t>
            </a:r>
            <a:r>
              <a:rPr lang="en-US" b="true" sz="259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ssion</a:t>
            </a:r>
          </a:p>
          <a:p>
            <a:pPr algn="l" marL="561112" indent="-280556" lvl="1">
              <a:lnSpc>
                <a:spcPts val="4002"/>
              </a:lnSpc>
              <a:buFont typeface="Arial"/>
              <a:buChar char="•"/>
            </a:pPr>
            <a:r>
              <a:rPr lang="en-US" sz="259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.ZIP files</a:t>
            </a:r>
          </a:p>
          <a:p>
            <a:pPr algn="l" marL="561112" indent="-280556" lvl="1">
              <a:lnSpc>
                <a:spcPts val="4002"/>
              </a:lnSpc>
              <a:buFont typeface="Arial"/>
              <a:buChar char="•"/>
            </a:pPr>
            <a:r>
              <a:rPr lang="en-US" sz="259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XML / JSON compression</a:t>
            </a:r>
          </a:p>
          <a:p>
            <a:pPr algn="l" marL="561112" indent="-280556" lvl="1">
              <a:lnSpc>
                <a:spcPts val="4002"/>
              </a:lnSpc>
              <a:buFont typeface="Arial"/>
              <a:buChar char="•"/>
            </a:pPr>
            <a:r>
              <a:rPr lang="en-US" sz="259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Log compression in servers</a:t>
            </a:r>
          </a:p>
          <a:p>
            <a:pPr algn="l">
              <a:lnSpc>
                <a:spcPts val="4002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075870" y="447422"/>
            <a:ext cx="10267532" cy="1978833"/>
          </a:xfrm>
          <a:custGeom>
            <a:avLst/>
            <a:gdLst/>
            <a:ahLst/>
            <a:cxnLst/>
            <a:rect r="r" b="b" t="t" l="l"/>
            <a:pathLst>
              <a:path h="1978833" w="10267532">
                <a:moveTo>
                  <a:pt x="0" y="0"/>
                </a:moveTo>
                <a:lnTo>
                  <a:pt x="10267532" y="0"/>
                </a:lnTo>
                <a:lnTo>
                  <a:pt x="10267532" y="1978834"/>
                </a:lnTo>
                <a:lnTo>
                  <a:pt x="0" y="19788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838109" y="967506"/>
            <a:ext cx="8984086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20"/>
              </a:lnSpc>
            </a:pPr>
            <a:r>
              <a:rPr lang="en-US" sz="6000" b="true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Real-Time Applications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26419" y="6296090"/>
            <a:ext cx="6483217" cy="2497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2"/>
              </a:lnSpc>
            </a:pPr>
            <a:r>
              <a:rPr lang="en-US" b="true" sz="259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Image &amp; Multimedia Compre</a:t>
            </a:r>
            <a:r>
              <a:rPr lang="en-US" b="true" sz="259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ssion</a:t>
            </a:r>
          </a:p>
          <a:p>
            <a:pPr algn="l" marL="561112" indent="-280556" lvl="1">
              <a:lnSpc>
                <a:spcPts val="4002"/>
              </a:lnSpc>
              <a:buFont typeface="Arial"/>
              <a:buChar char="•"/>
            </a:pPr>
            <a:r>
              <a:rPr lang="en-US" sz="259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-US" sz="259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sed in JPEG entropy encoding</a:t>
            </a:r>
          </a:p>
          <a:p>
            <a:pPr algn="l" marL="561112" indent="-280556" lvl="1">
              <a:lnSpc>
                <a:spcPts val="4002"/>
              </a:lnSpc>
              <a:buFont typeface="Arial"/>
              <a:buChar char="•"/>
            </a:pPr>
            <a:r>
              <a:rPr lang="en-US" sz="259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Used in MP3 &amp; FLAC audio compression</a:t>
            </a:r>
          </a:p>
          <a:p>
            <a:pPr algn="l">
              <a:lnSpc>
                <a:spcPts val="400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457286" y="3112359"/>
            <a:ext cx="7977662" cy="2497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2"/>
              </a:lnSpc>
            </a:pPr>
            <a:r>
              <a:rPr lang="en-US" b="true" sz="259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Networking &amp; Communicat</a:t>
            </a:r>
            <a:r>
              <a:rPr lang="en-US" b="true" sz="259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ion</a:t>
            </a:r>
          </a:p>
          <a:p>
            <a:pPr algn="l" marL="561112" indent="-280556" lvl="1">
              <a:lnSpc>
                <a:spcPts val="4002"/>
              </a:lnSpc>
              <a:buFont typeface="Arial"/>
              <a:buChar char="•"/>
            </a:pPr>
            <a:r>
              <a:rPr lang="en-US" sz="259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Reducing</a:t>
            </a:r>
            <a:r>
              <a:rPr lang="en-US" sz="259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size of packets</a:t>
            </a:r>
          </a:p>
          <a:p>
            <a:pPr algn="l" marL="561112" indent="-280556" lvl="1">
              <a:lnSpc>
                <a:spcPts val="4002"/>
              </a:lnSpc>
              <a:buFont typeface="Arial"/>
              <a:buChar char="•"/>
            </a:pPr>
            <a:r>
              <a:rPr lang="en-US" sz="259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59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MS compression</a:t>
            </a:r>
          </a:p>
          <a:p>
            <a:pPr algn="l" marL="561112" indent="-280556" lvl="1">
              <a:lnSpc>
                <a:spcPts val="4002"/>
              </a:lnSpc>
              <a:buFont typeface="Arial"/>
              <a:buChar char="•"/>
            </a:pPr>
            <a:r>
              <a:rPr lang="en-US" sz="259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59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oT device communication</a:t>
            </a:r>
          </a:p>
          <a:p>
            <a:pPr algn="l">
              <a:lnSpc>
                <a:spcPts val="4002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457286" y="6296090"/>
            <a:ext cx="5417581" cy="300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2"/>
              </a:lnSpc>
            </a:pPr>
            <a:r>
              <a:rPr lang="en-US" b="true" sz="259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Databases &amp; Storage Sy</a:t>
            </a:r>
            <a:r>
              <a:rPr lang="en-US" b="true" sz="259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stems</a:t>
            </a:r>
          </a:p>
          <a:p>
            <a:pPr algn="l" marL="561112" indent="-280556" lvl="1">
              <a:lnSpc>
                <a:spcPts val="4002"/>
              </a:lnSpc>
              <a:buFont typeface="Arial"/>
              <a:buChar char="•"/>
            </a:pPr>
            <a:r>
              <a:rPr lang="en-US" sz="259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Ef</a:t>
            </a:r>
            <a:r>
              <a:rPr lang="en-US" sz="259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ficient storage of large datasets</a:t>
            </a:r>
          </a:p>
          <a:p>
            <a:pPr algn="l" marL="561112" indent="-280556" lvl="1">
              <a:lnSpc>
                <a:spcPts val="4002"/>
              </a:lnSpc>
              <a:buFont typeface="Arial"/>
              <a:buChar char="•"/>
            </a:pPr>
            <a:r>
              <a:rPr lang="en-US" sz="259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Columnar storage compression</a:t>
            </a:r>
          </a:p>
          <a:p>
            <a:pPr algn="l">
              <a:lnSpc>
                <a:spcPts val="4002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9144000" y="1355173"/>
            <a:ext cx="10042068" cy="6664282"/>
          </a:xfrm>
          <a:custGeom>
            <a:avLst/>
            <a:gdLst/>
            <a:ahLst/>
            <a:cxnLst/>
            <a:rect r="r" b="b" t="t" l="l"/>
            <a:pathLst>
              <a:path h="6664282" w="10042068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898068" y="2179650"/>
            <a:ext cx="10042068" cy="6664282"/>
          </a:xfrm>
          <a:custGeom>
            <a:avLst/>
            <a:gdLst/>
            <a:ahLst/>
            <a:cxnLst/>
            <a:rect r="r" b="b" t="t" l="l"/>
            <a:pathLst>
              <a:path h="6664282" w="10042068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05789" y="-488243"/>
            <a:ext cx="5381659" cy="4060706"/>
          </a:xfrm>
          <a:custGeom>
            <a:avLst/>
            <a:gdLst/>
            <a:ahLst/>
            <a:cxnLst/>
            <a:rect r="r" b="b" t="t" l="l"/>
            <a:pathLst>
              <a:path h="4060706" w="5381659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526074" y="0"/>
            <a:ext cx="11733226" cy="2261313"/>
          </a:xfrm>
          <a:custGeom>
            <a:avLst/>
            <a:gdLst/>
            <a:ahLst/>
            <a:cxnLst/>
            <a:rect r="r" b="b" t="t" l="l"/>
            <a:pathLst>
              <a:path h="2261313" w="11733226">
                <a:moveTo>
                  <a:pt x="0" y="0"/>
                </a:moveTo>
                <a:lnTo>
                  <a:pt x="11733226" y="0"/>
                </a:lnTo>
                <a:lnTo>
                  <a:pt x="11733226" y="2261313"/>
                </a:lnTo>
                <a:lnTo>
                  <a:pt x="0" y="22613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2583031" y="2485829"/>
          <a:ext cx="15362069" cy="7684720"/>
        </p:xfrm>
        <a:graphic>
          <a:graphicData uri="http://schemas.openxmlformats.org/drawingml/2006/table">
            <a:tbl>
              <a:tblPr/>
              <a:tblGrid>
                <a:gridCol w="3098024"/>
                <a:gridCol w="3085702"/>
                <a:gridCol w="3079701"/>
                <a:gridCol w="3075379"/>
                <a:gridCol w="3023262"/>
              </a:tblGrid>
              <a:tr h="14071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Technique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Compression Efficiency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Time Complexity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Best for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071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Huffman Coding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Medium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O(nlogn)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Text,Document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Lossless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2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LZW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O(n)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Repetitive 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Lossless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071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Arithmetic Coding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Very 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O(n)</a:t>
                      </a:r>
                      <a:endParaRPr lang="en-US" sz="1100"/>
                    </a:p>
                    <a:p>
                      <a:pPr algn="ctr">
                        <a:lnSpc>
                          <a:spcPts val="3639"/>
                        </a:lnSpc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Slower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High Precision Files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Lossless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071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Low High(depends)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O(n)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Uniform images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Lossless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18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JPEG/MP3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Very 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Varies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Multi-media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Lossy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7764891" y="210771"/>
            <a:ext cx="10180209" cy="1712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8"/>
              </a:lnSpc>
            </a:pPr>
            <a:r>
              <a:rPr lang="en-US" sz="6222" b="true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Comparision with Other Compression techniques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0717673" y="793797"/>
            <a:ext cx="8638773" cy="5733004"/>
          </a:xfrm>
          <a:custGeom>
            <a:avLst/>
            <a:gdLst/>
            <a:ahLst/>
            <a:cxnLst/>
            <a:rect r="r" b="b" t="t" l="l"/>
            <a:pathLst>
              <a:path h="5733004" w="8638773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68815" y="2927354"/>
            <a:ext cx="8182690" cy="5430330"/>
          </a:xfrm>
          <a:custGeom>
            <a:avLst/>
            <a:gdLst/>
            <a:ahLst/>
            <a:cxnLst/>
            <a:rect r="r" b="b" t="t" l="l"/>
            <a:pathLst>
              <a:path h="5430330" w="818269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69859" y="394684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168815" y="6526800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488243"/>
            <a:ext cx="4670423" cy="3524046"/>
          </a:xfrm>
          <a:custGeom>
            <a:avLst/>
            <a:gdLst/>
            <a:ahLst/>
            <a:cxnLst/>
            <a:rect r="r" b="b" t="t" l="l"/>
            <a:pathLst>
              <a:path h="3524046" w="4670423">
                <a:moveTo>
                  <a:pt x="0" y="0"/>
                </a:moveTo>
                <a:lnTo>
                  <a:pt x="4670423" y="0"/>
                </a:lnTo>
                <a:lnTo>
                  <a:pt x="4670423" y="3524047"/>
                </a:lnTo>
                <a:lnTo>
                  <a:pt x="0" y="3524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947662" y="7300977"/>
            <a:ext cx="4521303" cy="3411529"/>
          </a:xfrm>
          <a:custGeom>
            <a:avLst/>
            <a:gdLst/>
            <a:ahLst/>
            <a:cxnLst/>
            <a:rect r="r" b="b" t="t" l="l"/>
            <a:pathLst>
              <a:path h="3411529" w="4521303">
                <a:moveTo>
                  <a:pt x="4521303" y="3411529"/>
                </a:moveTo>
                <a:lnTo>
                  <a:pt x="0" y="3411529"/>
                </a:lnTo>
                <a:lnTo>
                  <a:pt x="0" y="0"/>
                </a:lnTo>
                <a:lnTo>
                  <a:pt x="4521303" y="0"/>
                </a:lnTo>
                <a:lnTo>
                  <a:pt x="4521303" y="3411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3631" y="2797499"/>
            <a:ext cx="8750103" cy="1686383"/>
          </a:xfrm>
          <a:custGeom>
            <a:avLst/>
            <a:gdLst/>
            <a:ahLst/>
            <a:cxnLst/>
            <a:rect r="r" b="b" t="t" l="l"/>
            <a:pathLst>
              <a:path h="1686383" w="8750103">
                <a:moveTo>
                  <a:pt x="0" y="0"/>
                </a:moveTo>
                <a:lnTo>
                  <a:pt x="8750102" y="0"/>
                </a:lnTo>
                <a:lnTo>
                  <a:pt x="8750102" y="1686383"/>
                </a:lnTo>
                <a:lnTo>
                  <a:pt x="0" y="16863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411378" y="1021465"/>
            <a:ext cx="4657728" cy="8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7"/>
              </a:lnSpc>
            </a:pPr>
            <a:r>
              <a:rPr lang="en-US" sz="6399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Conclusion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19402" y="3131844"/>
            <a:ext cx="7520721" cy="93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</a:t>
            </a: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uffman Coding is an optimal lossless compression technique.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29661" y="6488692"/>
            <a:ext cx="9894900" cy="187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1"/>
              </a:lnSpc>
            </a:pPr>
            <a:r>
              <a:rPr lang="en-US" b="true" sz="32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Lorem ipsum dolor sit amet, consectetur adipisicing elit, sed do eiusmod tempor incididunt ut labore et dolore magna aliqua.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0576" y="2374967"/>
            <a:ext cx="1056248" cy="177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096"/>
              </a:lnSpc>
            </a:pPr>
            <a:r>
              <a:rPr lang="en-US" b="true" sz="643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1.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318581" y="2817107"/>
            <a:ext cx="8750103" cy="1686383"/>
          </a:xfrm>
          <a:custGeom>
            <a:avLst/>
            <a:gdLst/>
            <a:ahLst/>
            <a:cxnLst/>
            <a:rect r="r" b="b" t="t" l="l"/>
            <a:pathLst>
              <a:path h="1686383" w="8750103">
                <a:moveTo>
                  <a:pt x="0" y="0"/>
                </a:moveTo>
                <a:lnTo>
                  <a:pt x="8750102" y="0"/>
                </a:lnTo>
                <a:lnTo>
                  <a:pt x="8750102" y="1686383"/>
                </a:lnTo>
                <a:lnTo>
                  <a:pt x="0" y="16863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93631" y="5360182"/>
            <a:ext cx="8750103" cy="1686383"/>
          </a:xfrm>
          <a:custGeom>
            <a:avLst/>
            <a:gdLst/>
            <a:ahLst/>
            <a:cxnLst/>
            <a:rect r="r" b="b" t="t" l="l"/>
            <a:pathLst>
              <a:path h="1686383" w="8750103">
                <a:moveTo>
                  <a:pt x="0" y="0"/>
                </a:moveTo>
                <a:lnTo>
                  <a:pt x="8750102" y="0"/>
                </a:lnTo>
                <a:lnTo>
                  <a:pt x="8750102" y="1686383"/>
                </a:lnTo>
                <a:lnTo>
                  <a:pt x="0" y="16863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318581" y="5360182"/>
            <a:ext cx="8750103" cy="1686383"/>
          </a:xfrm>
          <a:custGeom>
            <a:avLst/>
            <a:gdLst/>
            <a:ahLst/>
            <a:cxnLst/>
            <a:rect r="r" b="b" t="t" l="l"/>
            <a:pathLst>
              <a:path h="1686383" w="8750103">
                <a:moveTo>
                  <a:pt x="0" y="0"/>
                </a:moveTo>
                <a:lnTo>
                  <a:pt x="8750102" y="0"/>
                </a:lnTo>
                <a:lnTo>
                  <a:pt x="8750102" y="1686383"/>
                </a:lnTo>
                <a:lnTo>
                  <a:pt x="0" y="16863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568682" y="7846665"/>
            <a:ext cx="8750103" cy="1686383"/>
          </a:xfrm>
          <a:custGeom>
            <a:avLst/>
            <a:gdLst/>
            <a:ahLst/>
            <a:cxnLst/>
            <a:rect r="r" b="b" t="t" l="l"/>
            <a:pathLst>
              <a:path h="1686383" w="8750103">
                <a:moveTo>
                  <a:pt x="0" y="0"/>
                </a:moveTo>
                <a:lnTo>
                  <a:pt x="8750103" y="0"/>
                </a:lnTo>
                <a:lnTo>
                  <a:pt x="8750103" y="1686384"/>
                </a:lnTo>
                <a:lnTo>
                  <a:pt x="0" y="16863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119402" y="5695374"/>
            <a:ext cx="6239518" cy="93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</a:t>
            </a: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idely used in real-world technologies (ZIP, JPEG, MP3, etc.).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77935" y="3372562"/>
            <a:ext cx="6239518" cy="45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</a:t>
            </a: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educes storage/transmission cost.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93679" y="5942595"/>
            <a:ext cx="6239518" cy="45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Eff</a:t>
            </a: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icient with O(n log n) complexity.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11378" y="8147747"/>
            <a:ext cx="6239518" cy="93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 to implement and highly effective for skewed frequency data.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00576" y="4918042"/>
            <a:ext cx="1056248" cy="177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096"/>
              </a:lnSpc>
            </a:pPr>
            <a:r>
              <a:rPr lang="en-US" b="true" sz="643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3.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31137" y="2309175"/>
            <a:ext cx="1056248" cy="177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096"/>
              </a:lnSpc>
            </a:pPr>
            <a:r>
              <a:rPr lang="en-US" b="true" sz="643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2</a:t>
            </a:r>
            <a:r>
              <a:rPr lang="en-US" b="true" sz="643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711038" y="7370415"/>
            <a:ext cx="1056248" cy="177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096"/>
              </a:lnSpc>
            </a:pPr>
            <a:r>
              <a:rPr lang="en-US" b="true" sz="643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5.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89731" y="4842419"/>
            <a:ext cx="1056248" cy="177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096"/>
              </a:lnSpc>
            </a:pPr>
            <a:r>
              <a:rPr lang="en-US" b="true" sz="643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4.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9144000" y="1355173"/>
            <a:ext cx="10042068" cy="6664282"/>
          </a:xfrm>
          <a:custGeom>
            <a:avLst/>
            <a:gdLst/>
            <a:ahLst/>
            <a:cxnLst/>
            <a:rect r="r" b="b" t="t" l="l"/>
            <a:pathLst>
              <a:path h="6664282" w="10042068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4145" y="0"/>
            <a:ext cx="20409103" cy="1443068"/>
          </a:xfrm>
          <a:custGeom>
            <a:avLst/>
            <a:gdLst/>
            <a:ahLst/>
            <a:cxnLst/>
            <a:rect r="r" b="b" t="t" l="l"/>
            <a:pathLst>
              <a:path h="1443068" w="20409103">
                <a:moveTo>
                  <a:pt x="0" y="0"/>
                </a:moveTo>
                <a:lnTo>
                  <a:pt x="20409103" y="0"/>
                </a:lnTo>
                <a:lnTo>
                  <a:pt x="20409103" y="1443068"/>
                </a:lnTo>
                <a:lnTo>
                  <a:pt x="0" y="1443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898068" y="2179650"/>
            <a:ext cx="10042068" cy="6664282"/>
          </a:xfrm>
          <a:custGeom>
            <a:avLst/>
            <a:gdLst/>
            <a:ahLst/>
            <a:cxnLst/>
            <a:rect r="r" b="b" t="t" l="l"/>
            <a:pathLst>
              <a:path h="6664282" w="10042068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1748364" y="8843932"/>
            <a:ext cx="20409103" cy="1443068"/>
          </a:xfrm>
          <a:custGeom>
            <a:avLst/>
            <a:gdLst/>
            <a:ahLst/>
            <a:cxnLst/>
            <a:rect r="r" b="b" t="t" l="l"/>
            <a:pathLst>
              <a:path h="1443068" w="20409103">
                <a:moveTo>
                  <a:pt x="20409103" y="1443068"/>
                </a:moveTo>
                <a:lnTo>
                  <a:pt x="0" y="1443068"/>
                </a:lnTo>
                <a:lnTo>
                  <a:pt x="0" y="0"/>
                </a:lnTo>
                <a:lnTo>
                  <a:pt x="20409103" y="0"/>
                </a:lnTo>
                <a:lnTo>
                  <a:pt x="20409103" y="14430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169859" y="5618309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47997" y="3253490"/>
            <a:ext cx="10792006" cy="236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71"/>
              </a:lnSpc>
            </a:pPr>
            <a:r>
              <a:rPr lang="en-US" b="true" sz="16889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Thank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06708" y="5184737"/>
            <a:ext cx="3274583" cy="2048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39"/>
              </a:lnSpc>
            </a:pPr>
            <a:r>
              <a:rPr lang="en-US" b="true" sz="14616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You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-1050468" y="1355173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5118141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1" y="3396585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DAG6vx5QdLg</dc:identifier>
  <dcterms:modified xsi:type="dcterms:W3CDTF">2011-08-01T06:04:30Z</dcterms:modified>
  <cp:revision>1</cp:revision>
  <dc:title>DAA project</dc:title>
</cp:coreProperties>
</file>